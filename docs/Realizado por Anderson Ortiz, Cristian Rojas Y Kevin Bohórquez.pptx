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Glacial Indifference" charset="1" panose="00000000000000000000"/>
      <p:regular r:id="rId30"/>
    </p:embeddedFont>
    <p:embeddedFont>
      <p:font typeface="Glacial Indifference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982806">
            <a:off x="720300" y="6421716"/>
            <a:ext cx="8842272" cy="11861584"/>
          </a:xfrm>
          <a:custGeom>
            <a:avLst/>
            <a:gdLst/>
            <a:ahLst/>
            <a:cxnLst/>
            <a:rect r="r" b="b" t="t" l="l"/>
            <a:pathLst>
              <a:path h="11861584" w="8842272">
                <a:moveTo>
                  <a:pt x="0" y="0"/>
                </a:moveTo>
                <a:lnTo>
                  <a:pt x="8842272" y="0"/>
                </a:lnTo>
                <a:lnTo>
                  <a:pt x="8842272" y="11861584"/>
                </a:lnTo>
                <a:lnTo>
                  <a:pt x="0" y="1186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6501204">
            <a:off x="11046831" y="-5088864"/>
            <a:ext cx="8807178" cy="11814508"/>
          </a:xfrm>
          <a:custGeom>
            <a:avLst/>
            <a:gdLst/>
            <a:ahLst/>
            <a:cxnLst/>
            <a:rect r="r" b="b" t="t" l="l"/>
            <a:pathLst>
              <a:path h="11814508" w="8807178">
                <a:moveTo>
                  <a:pt x="0" y="0"/>
                </a:moveTo>
                <a:lnTo>
                  <a:pt x="8807178" y="0"/>
                </a:lnTo>
                <a:lnTo>
                  <a:pt x="8807178" y="11814507"/>
                </a:lnTo>
                <a:lnTo>
                  <a:pt x="0" y="11814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571821">
            <a:off x="10628437" y="8363453"/>
            <a:ext cx="5947318" cy="7978109"/>
          </a:xfrm>
          <a:custGeom>
            <a:avLst/>
            <a:gdLst/>
            <a:ahLst/>
            <a:cxnLst/>
            <a:rect r="r" b="b" t="t" l="l"/>
            <a:pathLst>
              <a:path h="7978109" w="5947318">
                <a:moveTo>
                  <a:pt x="0" y="0"/>
                </a:moveTo>
                <a:lnTo>
                  <a:pt x="5947318" y="0"/>
                </a:lnTo>
                <a:lnTo>
                  <a:pt x="5947318" y="7978110"/>
                </a:lnTo>
                <a:lnTo>
                  <a:pt x="0" y="7978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114765">
            <a:off x="11561828" y="5146485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5058328">
            <a:off x="13255544" y="-4131370"/>
            <a:ext cx="7156478" cy="6935278"/>
          </a:xfrm>
          <a:custGeom>
            <a:avLst/>
            <a:gdLst/>
            <a:ahLst/>
            <a:cxnLst/>
            <a:rect r="r" b="b" t="t" l="l"/>
            <a:pathLst>
              <a:path h="6935278" w="7156478">
                <a:moveTo>
                  <a:pt x="0" y="0"/>
                </a:moveTo>
                <a:lnTo>
                  <a:pt x="7156479" y="0"/>
                </a:lnTo>
                <a:lnTo>
                  <a:pt x="7156479" y="6935279"/>
                </a:lnTo>
                <a:lnTo>
                  <a:pt x="0" y="693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318101">
            <a:off x="-3880130" y="6803731"/>
            <a:ext cx="10117864" cy="10062676"/>
          </a:xfrm>
          <a:custGeom>
            <a:avLst/>
            <a:gdLst/>
            <a:ahLst/>
            <a:cxnLst/>
            <a:rect r="r" b="b" t="t" l="l"/>
            <a:pathLst>
              <a:path h="10062676" w="10117864">
                <a:moveTo>
                  <a:pt x="0" y="0"/>
                </a:moveTo>
                <a:lnTo>
                  <a:pt x="10117864" y="0"/>
                </a:lnTo>
                <a:lnTo>
                  <a:pt x="10117864" y="10062675"/>
                </a:lnTo>
                <a:lnTo>
                  <a:pt x="0" y="10062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6800871">
            <a:off x="-1846725" y="-2878373"/>
            <a:ext cx="8542938" cy="7393525"/>
          </a:xfrm>
          <a:custGeom>
            <a:avLst/>
            <a:gdLst/>
            <a:ahLst/>
            <a:cxnLst/>
            <a:rect r="r" b="b" t="t" l="l"/>
            <a:pathLst>
              <a:path h="7393525" w="8542938">
                <a:moveTo>
                  <a:pt x="0" y="0"/>
                </a:moveTo>
                <a:lnTo>
                  <a:pt x="8542938" y="0"/>
                </a:lnTo>
                <a:lnTo>
                  <a:pt x="8542938" y="7393525"/>
                </a:lnTo>
                <a:lnTo>
                  <a:pt x="0" y="739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126457" y="5899632"/>
            <a:ext cx="8005127" cy="120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8"/>
              </a:lnSpc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Realizado por Anderson Ortiz, </a:t>
            </a:r>
          </a:p>
          <a:p>
            <a:pPr algn="ctr" marL="0" indent="0" lvl="0">
              <a:lnSpc>
                <a:spcPts val="4808"/>
              </a:lnSpc>
              <a:spcBef>
                <a:spcPct val="0"/>
              </a:spcBef>
            </a:pPr>
            <a:r>
              <a:rPr lang="en-US" sz="3434" spc="7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Cristian Rojas Y Kevin Bohórquez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4744" y="3915881"/>
            <a:ext cx="13408553" cy="2059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 spc="55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COBERTURAS DEL PAIS A NIVEL DE TECNOLOGIA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5236" y="3217274"/>
            <a:ext cx="7307570" cy="812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44"/>
              </a:lnSpc>
              <a:spcBef>
                <a:spcPct val="0"/>
              </a:spcBef>
            </a:pPr>
            <a:r>
              <a:rPr lang="en-US" sz="4745" spc="446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PROYECTO 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4793094" y="-87941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904222" y="923925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INTRODUCCIÓN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853128" y="1747439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1225" y="3303431"/>
            <a:ext cx="15948075" cy="6572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4125" spc="9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presente proyecto tiene como objetivo desarrollar un modelo de clasificación basado en Random Forest que permita predecir la presencia de cobertura 4G en los municipios de Colombia, a partir de variables demográficas, socioeconómicas, geográficas y de infraestructura, obtenidas de fuentes oficiales de datos abiertos. Para ello, se emplean técnicas de análisis de datos y aprendizaje automático que facilitan la identificación de patrones relevantes en la información disponible.</a:t>
            </a:r>
          </a:p>
          <a:p>
            <a:pPr algn="l">
              <a:lnSpc>
                <a:spcPts val="577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4738082" y="-1071959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2" y="0"/>
                </a:lnTo>
                <a:lnTo>
                  <a:pt x="9798172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904222" y="1240356"/>
            <a:ext cx="7409654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 GENERAL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904222" y="2063870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66739"/>
            <a:ext cx="15948075" cy="443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4225" spc="9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 modelo de clasificación basado en Random Forest que permita predecir la presencia de cobertura 4G en los municipios de Colombia, a partir de variables demográficas, socioeconómicas, geográficas y de infraestructura, con el fin de apoyar la toma de decisiones estratégicas en la planificación y expansión de servicios de telecomunicaciones.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841" y="4286276"/>
            <a:ext cx="5711156" cy="5443777"/>
            <a:chOff x="0" y="0"/>
            <a:chExt cx="902934" cy="8606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2934" cy="860661"/>
            </a:xfrm>
            <a:custGeom>
              <a:avLst/>
              <a:gdLst/>
              <a:ahLst/>
              <a:cxnLst/>
              <a:rect r="r" b="b" t="t" l="l"/>
              <a:pathLst>
                <a:path h="860661" w="902934">
                  <a:moveTo>
                    <a:pt x="35245" y="0"/>
                  </a:moveTo>
                  <a:lnTo>
                    <a:pt x="867689" y="0"/>
                  </a:lnTo>
                  <a:cubicBezTo>
                    <a:pt x="887154" y="0"/>
                    <a:pt x="902934" y="15780"/>
                    <a:pt x="902934" y="35245"/>
                  </a:cubicBezTo>
                  <a:lnTo>
                    <a:pt x="902934" y="825416"/>
                  </a:lnTo>
                  <a:cubicBezTo>
                    <a:pt x="902934" y="844881"/>
                    <a:pt x="887154" y="860661"/>
                    <a:pt x="867689" y="860661"/>
                  </a:cubicBezTo>
                  <a:lnTo>
                    <a:pt x="35245" y="860661"/>
                  </a:lnTo>
                  <a:cubicBezTo>
                    <a:pt x="25897" y="860661"/>
                    <a:pt x="16933" y="856948"/>
                    <a:pt x="10323" y="850338"/>
                  </a:cubicBezTo>
                  <a:cubicBezTo>
                    <a:pt x="3713" y="843728"/>
                    <a:pt x="0" y="834764"/>
                    <a:pt x="0" y="825416"/>
                  </a:cubicBezTo>
                  <a:lnTo>
                    <a:pt x="0" y="35245"/>
                  </a:lnTo>
                  <a:cubicBezTo>
                    <a:pt x="0" y="25897"/>
                    <a:pt x="3713" y="16933"/>
                    <a:pt x="10323" y="10323"/>
                  </a:cubicBezTo>
                  <a:cubicBezTo>
                    <a:pt x="16933" y="3713"/>
                    <a:pt x="25897" y="0"/>
                    <a:pt x="35245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902934" cy="851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75103" y="4364203"/>
            <a:ext cx="5388604" cy="5365851"/>
            <a:chOff x="0" y="0"/>
            <a:chExt cx="851938" cy="8483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1938" cy="848341"/>
            </a:xfrm>
            <a:custGeom>
              <a:avLst/>
              <a:gdLst/>
              <a:ahLst/>
              <a:cxnLst/>
              <a:rect r="r" b="b" t="t" l="l"/>
              <a:pathLst>
                <a:path h="848341" w="851938">
                  <a:moveTo>
                    <a:pt x="37355" y="0"/>
                  </a:moveTo>
                  <a:lnTo>
                    <a:pt x="814583" y="0"/>
                  </a:lnTo>
                  <a:cubicBezTo>
                    <a:pt x="824491" y="0"/>
                    <a:pt x="833992" y="3936"/>
                    <a:pt x="840997" y="10941"/>
                  </a:cubicBezTo>
                  <a:cubicBezTo>
                    <a:pt x="848003" y="17946"/>
                    <a:pt x="851938" y="27448"/>
                    <a:pt x="851938" y="37355"/>
                  </a:cubicBezTo>
                  <a:lnTo>
                    <a:pt x="851938" y="810986"/>
                  </a:lnTo>
                  <a:cubicBezTo>
                    <a:pt x="851938" y="820893"/>
                    <a:pt x="848003" y="830395"/>
                    <a:pt x="840997" y="837400"/>
                  </a:cubicBezTo>
                  <a:cubicBezTo>
                    <a:pt x="833992" y="844405"/>
                    <a:pt x="824491" y="848341"/>
                    <a:pt x="814583" y="848341"/>
                  </a:cubicBezTo>
                  <a:lnTo>
                    <a:pt x="37355" y="848341"/>
                  </a:lnTo>
                  <a:cubicBezTo>
                    <a:pt x="27448" y="848341"/>
                    <a:pt x="17946" y="844405"/>
                    <a:pt x="10941" y="837400"/>
                  </a:cubicBezTo>
                  <a:cubicBezTo>
                    <a:pt x="3936" y="830395"/>
                    <a:pt x="0" y="820893"/>
                    <a:pt x="0" y="810986"/>
                  </a:cubicBezTo>
                  <a:lnTo>
                    <a:pt x="0" y="37355"/>
                  </a:lnTo>
                  <a:cubicBezTo>
                    <a:pt x="0" y="27448"/>
                    <a:pt x="3936" y="17946"/>
                    <a:pt x="10941" y="10941"/>
                  </a:cubicBezTo>
                  <a:cubicBezTo>
                    <a:pt x="17946" y="3936"/>
                    <a:pt x="27448" y="0"/>
                    <a:pt x="37355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851938" cy="838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18166" y="4364203"/>
            <a:ext cx="5438001" cy="5365851"/>
            <a:chOff x="0" y="0"/>
            <a:chExt cx="859748" cy="8483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9748" cy="848341"/>
            </a:xfrm>
            <a:custGeom>
              <a:avLst/>
              <a:gdLst/>
              <a:ahLst/>
              <a:cxnLst/>
              <a:rect r="r" b="b" t="t" l="l"/>
              <a:pathLst>
                <a:path h="848341" w="859748">
                  <a:moveTo>
                    <a:pt x="37015" y="0"/>
                  </a:moveTo>
                  <a:lnTo>
                    <a:pt x="822733" y="0"/>
                  </a:lnTo>
                  <a:cubicBezTo>
                    <a:pt x="843176" y="0"/>
                    <a:pt x="859748" y="16572"/>
                    <a:pt x="859748" y="37015"/>
                  </a:cubicBezTo>
                  <a:lnTo>
                    <a:pt x="859748" y="811326"/>
                  </a:lnTo>
                  <a:cubicBezTo>
                    <a:pt x="859748" y="831769"/>
                    <a:pt x="843176" y="848341"/>
                    <a:pt x="822733" y="848341"/>
                  </a:cubicBezTo>
                  <a:lnTo>
                    <a:pt x="37015" y="848341"/>
                  </a:lnTo>
                  <a:cubicBezTo>
                    <a:pt x="16572" y="848341"/>
                    <a:pt x="0" y="831769"/>
                    <a:pt x="0" y="811326"/>
                  </a:cubicBezTo>
                  <a:lnTo>
                    <a:pt x="0" y="37015"/>
                  </a:lnTo>
                  <a:cubicBezTo>
                    <a:pt x="0" y="16572"/>
                    <a:pt x="16572" y="0"/>
                    <a:pt x="37015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59748" cy="838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983283" y="861188"/>
            <a:ext cx="8324690" cy="254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58"/>
              </a:lnSpc>
            </a:pPr>
            <a:r>
              <a:rPr lang="en-US" b="true" sz="7327" spc="68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OBJETIVOS ESPECIFICOS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110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32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18166" y="4836772"/>
            <a:ext cx="4384724" cy="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 spc="38">
                <a:solidFill>
                  <a:srgbClr val="2537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Objetivo 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73248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14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06305" y="3180151"/>
            <a:ext cx="2008447" cy="198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39"/>
              </a:lnSpc>
            </a:pPr>
            <a:r>
              <a:rPr lang="en-US" b="true" sz="11528" spc="1083">
                <a:solidFill>
                  <a:srgbClr val="D89C6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311213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67793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244269" y="5754241"/>
            <a:ext cx="4732518" cy="0"/>
          </a:xfrm>
          <a:prstGeom prst="line">
            <a:avLst/>
          </a:prstGeom>
          <a:ln cap="flat" w="38100">
            <a:solidFill>
              <a:srgbClr val="2537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6321534" y="-285545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7304767" y="854768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2"/>
                </a:lnTo>
                <a:lnTo>
                  <a:pt x="0" y="188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0" y="9258300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-937766" y="8402769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672866">
            <a:off x="-1045588" y="-1783519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-10799999">
            <a:off x="12715117" y="7583041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410349" y="5687566"/>
            <a:ext cx="5837648" cy="448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106" indent="-342053" lvl="1">
              <a:lnSpc>
                <a:spcPts val="4436"/>
              </a:lnSpc>
              <a:buFont typeface="Arial"/>
              <a:buChar char="•"/>
            </a:pPr>
            <a:r>
              <a:rPr lang="en-US" sz="3168" spc="69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Recolectar y preparar los datos municipales necesarios para el análisis, realizando procesos de limpieza, imputación de valores faltantes y transformación de variables.</a:t>
            </a:r>
          </a:p>
          <a:p>
            <a:pPr algn="l">
              <a:lnSpc>
                <a:spcPts val="4436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247997" y="5781003"/>
            <a:ext cx="5715709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 spc="63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Explorar y analizar las variables demográficas, socioeconómicas, geográficas y de infraestructura para identificar los factores más influyentes en la presencia de cobertura 4G.</a:t>
            </a:r>
          </a:p>
          <a:p>
            <a:pPr algn="l">
              <a:lnSpc>
                <a:spcPts val="4060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2287556" y="5858759"/>
            <a:ext cx="5568611" cy="412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285" indent="-363642" lvl="1">
              <a:lnSpc>
                <a:spcPts val="4716"/>
              </a:lnSpc>
              <a:buFont typeface="Arial"/>
              <a:buChar char="•"/>
            </a:pPr>
            <a:r>
              <a:rPr lang="en-US" sz="3368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Entrenar un modelo de clasificación Random Forest para predecir la presencia o ausencia de cobertura 4G en cada municipio.</a:t>
            </a:r>
          </a:p>
          <a:p>
            <a:pPr algn="l">
              <a:lnSpc>
                <a:spcPts val="471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8131" y="7173582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49738" y="-4940726"/>
            <a:ext cx="7641686" cy="6808048"/>
          </a:xfrm>
          <a:custGeom>
            <a:avLst/>
            <a:gdLst/>
            <a:ahLst/>
            <a:cxnLst/>
            <a:rect r="r" b="b" t="t" l="l"/>
            <a:pathLst>
              <a:path h="6808048" w="7641686">
                <a:moveTo>
                  <a:pt x="0" y="0"/>
                </a:moveTo>
                <a:lnTo>
                  <a:pt x="7641686" y="0"/>
                </a:lnTo>
                <a:lnTo>
                  <a:pt x="7641686" y="6808048"/>
                </a:lnTo>
                <a:lnTo>
                  <a:pt x="0" y="6808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8798399">
            <a:off x="13156923" y="1016610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8798399">
            <a:off x="-2994864" y="-864598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1306365"/>
            <a:ext cx="7669089" cy="8093219"/>
            <a:chOff x="0" y="0"/>
            <a:chExt cx="2485150" cy="26225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5150" cy="2622588"/>
            </a:xfrm>
            <a:custGeom>
              <a:avLst/>
              <a:gdLst/>
              <a:ahLst/>
              <a:cxnLst/>
              <a:rect r="r" b="b" t="t" l="l"/>
              <a:pathLst>
                <a:path h="2622588" w="2485150">
                  <a:moveTo>
                    <a:pt x="39370" y="0"/>
                  </a:moveTo>
                  <a:lnTo>
                    <a:pt x="2445779" y="0"/>
                  </a:lnTo>
                  <a:cubicBezTo>
                    <a:pt x="2456221" y="0"/>
                    <a:pt x="2466235" y="4148"/>
                    <a:pt x="2473618" y="11531"/>
                  </a:cubicBezTo>
                  <a:cubicBezTo>
                    <a:pt x="2481002" y="18915"/>
                    <a:pt x="2485150" y="28929"/>
                    <a:pt x="2485150" y="39370"/>
                  </a:cubicBezTo>
                  <a:lnTo>
                    <a:pt x="2485150" y="2583218"/>
                  </a:lnTo>
                  <a:cubicBezTo>
                    <a:pt x="2485150" y="2593659"/>
                    <a:pt x="2481002" y="2603673"/>
                    <a:pt x="2473618" y="2611057"/>
                  </a:cubicBezTo>
                  <a:cubicBezTo>
                    <a:pt x="2466235" y="2618440"/>
                    <a:pt x="2456221" y="2622588"/>
                    <a:pt x="2445779" y="2622588"/>
                  </a:cubicBezTo>
                  <a:lnTo>
                    <a:pt x="39370" y="2622588"/>
                  </a:lnTo>
                  <a:cubicBezTo>
                    <a:pt x="28929" y="2622588"/>
                    <a:pt x="18915" y="2618440"/>
                    <a:pt x="11531" y="2611057"/>
                  </a:cubicBezTo>
                  <a:cubicBezTo>
                    <a:pt x="4148" y="2603673"/>
                    <a:pt x="0" y="2593659"/>
                    <a:pt x="0" y="2583218"/>
                  </a:cubicBezTo>
                  <a:lnTo>
                    <a:pt x="0" y="39370"/>
                  </a:lnTo>
                  <a:cubicBezTo>
                    <a:pt x="0" y="28929"/>
                    <a:pt x="4148" y="18915"/>
                    <a:pt x="11531" y="11531"/>
                  </a:cubicBezTo>
                  <a:cubicBezTo>
                    <a:pt x="18915" y="4148"/>
                    <a:pt x="28929" y="0"/>
                    <a:pt x="39370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2485150" cy="2613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9961243">
            <a:off x="13013902" y="-3960576"/>
            <a:ext cx="10084214" cy="8727429"/>
          </a:xfrm>
          <a:custGeom>
            <a:avLst/>
            <a:gdLst/>
            <a:ahLst/>
            <a:cxnLst/>
            <a:rect r="r" b="b" t="t" l="l"/>
            <a:pathLst>
              <a:path h="8727429" w="10084214">
                <a:moveTo>
                  <a:pt x="0" y="0"/>
                </a:moveTo>
                <a:lnTo>
                  <a:pt x="10084215" y="0"/>
                </a:lnTo>
                <a:lnTo>
                  <a:pt x="10084215" y="8727430"/>
                </a:lnTo>
                <a:lnTo>
                  <a:pt x="0" y="8727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976001">
            <a:off x="-4614341" y="5979010"/>
            <a:ext cx="9228681" cy="7987004"/>
          </a:xfrm>
          <a:custGeom>
            <a:avLst/>
            <a:gdLst/>
            <a:ahLst/>
            <a:cxnLst/>
            <a:rect r="r" b="b" t="t" l="l"/>
            <a:pathLst>
              <a:path h="7987004" w="9228681">
                <a:moveTo>
                  <a:pt x="0" y="0"/>
                </a:moveTo>
                <a:lnTo>
                  <a:pt x="9228682" y="0"/>
                </a:lnTo>
                <a:lnTo>
                  <a:pt x="9228682" y="7987004"/>
                </a:lnTo>
                <a:lnTo>
                  <a:pt x="0" y="7987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29679" y="1543712"/>
            <a:ext cx="5522143" cy="11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</a:pPr>
            <a:r>
              <a:rPr lang="en-US" b="true" sz="3354" spc="14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Entend</a:t>
            </a:r>
            <a:r>
              <a:rPr lang="en-US" b="true" sz="3354" spc="14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imiento del Negocio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23256" y="2925162"/>
            <a:ext cx="7280438" cy="6108511"/>
            <a:chOff x="0" y="0"/>
            <a:chExt cx="1151037" cy="9657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1037" cy="965755"/>
            </a:xfrm>
            <a:custGeom>
              <a:avLst/>
              <a:gdLst/>
              <a:ahLst/>
              <a:cxnLst/>
              <a:rect r="r" b="b" t="t" l="l"/>
              <a:pathLst>
                <a:path h="965755" w="1151037">
                  <a:moveTo>
                    <a:pt x="27648" y="0"/>
                  </a:moveTo>
                  <a:lnTo>
                    <a:pt x="1123389" y="0"/>
                  </a:lnTo>
                  <a:cubicBezTo>
                    <a:pt x="1130722" y="0"/>
                    <a:pt x="1137754" y="2913"/>
                    <a:pt x="1142939" y="8098"/>
                  </a:cubicBezTo>
                  <a:cubicBezTo>
                    <a:pt x="1148124" y="13283"/>
                    <a:pt x="1151037" y="20315"/>
                    <a:pt x="1151037" y="27648"/>
                  </a:cubicBezTo>
                  <a:lnTo>
                    <a:pt x="1151037" y="938107"/>
                  </a:lnTo>
                  <a:cubicBezTo>
                    <a:pt x="1151037" y="953377"/>
                    <a:pt x="1138659" y="965755"/>
                    <a:pt x="1123389" y="965755"/>
                  </a:cubicBezTo>
                  <a:lnTo>
                    <a:pt x="27648" y="965755"/>
                  </a:lnTo>
                  <a:cubicBezTo>
                    <a:pt x="12378" y="965755"/>
                    <a:pt x="0" y="953377"/>
                    <a:pt x="0" y="938107"/>
                  </a:cubicBezTo>
                  <a:lnTo>
                    <a:pt x="0" y="27648"/>
                  </a:lnTo>
                  <a:cubicBezTo>
                    <a:pt x="0" y="12378"/>
                    <a:pt x="12378" y="0"/>
                    <a:pt x="27648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151037" cy="956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77808" y="3019618"/>
            <a:ext cx="7225886" cy="646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6"/>
              </a:lnSpc>
            </a:pPr>
            <a:r>
              <a:rPr lang="en-US" sz="3647" spc="80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Colombia, existen marcadas diferencias en la cobertura de los servicios de telecomunicaciones móviles, particularmente en la disponibilidad de cobertura 4G, lo que genera brechas digitales que afectan el desarrollo económico, social y tecnológico de muchos municipios.</a:t>
            </a:r>
          </a:p>
          <a:p>
            <a:pPr algn="l">
              <a:lnSpc>
                <a:spcPts val="5106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1306365"/>
            <a:ext cx="8115300" cy="8093219"/>
            <a:chOff x="0" y="0"/>
            <a:chExt cx="2629743" cy="26225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29743" cy="2622588"/>
            </a:xfrm>
            <a:custGeom>
              <a:avLst/>
              <a:gdLst/>
              <a:ahLst/>
              <a:cxnLst/>
              <a:rect r="r" b="b" t="t" l="l"/>
              <a:pathLst>
                <a:path h="2622588" w="2629743">
                  <a:moveTo>
                    <a:pt x="37206" y="0"/>
                  </a:moveTo>
                  <a:lnTo>
                    <a:pt x="2592537" y="0"/>
                  </a:lnTo>
                  <a:cubicBezTo>
                    <a:pt x="2602405" y="0"/>
                    <a:pt x="2611868" y="3920"/>
                    <a:pt x="2618846" y="10897"/>
                  </a:cubicBezTo>
                  <a:cubicBezTo>
                    <a:pt x="2625823" y="17875"/>
                    <a:pt x="2629743" y="27338"/>
                    <a:pt x="2629743" y="37206"/>
                  </a:cubicBezTo>
                  <a:lnTo>
                    <a:pt x="2629743" y="2585382"/>
                  </a:lnTo>
                  <a:cubicBezTo>
                    <a:pt x="2629743" y="2595250"/>
                    <a:pt x="2625823" y="2604713"/>
                    <a:pt x="2618846" y="2611691"/>
                  </a:cubicBezTo>
                  <a:cubicBezTo>
                    <a:pt x="2611868" y="2618668"/>
                    <a:pt x="2602405" y="2622588"/>
                    <a:pt x="2592537" y="2622588"/>
                  </a:cubicBezTo>
                  <a:lnTo>
                    <a:pt x="37206" y="2622588"/>
                  </a:lnTo>
                  <a:cubicBezTo>
                    <a:pt x="27338" y="2622588"/>
                    <a:pt x="17875" y="2618668"/>
                    <a:pt x="10897" y="2611691"/>
                  </a:cubicBezTo>
                  <a:cubicBezTo>
                    <a:pt x="3920" y="2604713"/>
                    <a:pt x="0" y="2595250"/>
                    <a:pt x="0" y="2585382"/>
                  </a:cubicBezTo>
                  <a:lnTo>
                    <a:pt x="0" y="37206"/>
                  </a:lnTo>
                  <a:cubicBezTo>
                    <a:pt x="0" y="27338"/>
                    <a:pt x="3920" y="17875"/>
                    <a:pt x="10897" y="10897"/>
                  </a:cubicBezTo>
                  <a:cubicBezTo>
                    <a:pt x="17875" y="3920"/>
                    <a:pt x="27338" y="0"/>
                    <a:pt x="37206" y="0"/>
                  </a:cubicBezTo>
                  <a:close/>
                </a:path>
              </a:pathLst>
            </a:custGeom>
            <a:solidFill>
              <a:srgbClr val="25375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629743" cy="2613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44979" y="1543712"/>
            <a:ext cx="5522143" cy="116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6"/>
              </a:lnSpc>
            </a:pPr>
            <a:r>
              <a:rPr lang="en-US" b="true" sz="3354" spc="14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Entend</a:t>
            </a:r>
            <a:r>
              <a:rPr lang="en-US" b="true" sz="3354" spc="140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imiento de los datos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38556" y="2925162"/>
            <a:ext cx="7610509" cy="6108511"/>
            <a:chOff x="0" y="0"/>
            <a:chExt cx="1203221" cy="9657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3221" cy="965755"/>
            </a:xfrm>
            <a:custGeom>
              <a:avLst/>
              <a:gdLst/>
              <a:ahLst/>
              <a:cxnLst/>
              <a:rect r="r" b="b" t="t" l="l"/>
              <a:pathLst>
                <a:path h="965755" w="1203221">
                  <a:moveTo>
                    <a:pt x="26449" y="0"/>
                  </a:moveTo>
                  <a:lnTo>
                    <a:pt x="1176772" y="0"/>
                  </a:lnTo>
                  <a:cubicBezTo>
                    <a:pt x="1191380" y="0"/>
                    <a:pt x="1203221" y="11842"/>
                    <a:pt x="1203221" y="26449"/>
                  </a:cubicBezTo>
                  <a:lnTo>
                    <a:pt x="1203221" y="939307"/>
                  </a:lnTo>
                  <a:cubicBezTo>
                    <a:pt x="1203221" y="953914"/>
                    <a:pt x="1191380" y="965755"/>
                    <a:pt x="1176772" y="965755"/>
                  </a:cubicBezTo>
                  <a:lnTo>
                    <a:pt x="26449" y="965755"/>
                  </a:lnTo>
                  <a:cubicBezTo>
                    <a:pt x="11842" y="965755"/>
                    <a:pt x="0" y="953914"/>
                    <a:pt x="0" y="939307"/>
                  </a:cubicBezTo>
                  <a:lnTo>
                    <a:pt x="0" y="26449"/>
                  </a:lnTo>
                  <a:cubicBezTo>
                    <a:pt x="0" y="11842"/>
                    <a:pt x="11842" y="0"/>
                    <a:pt x="26449" y="0"/>
                  </a:cubicBezTo>
                  <a:close/>
                </a:path>
              </a:pathLst>
            </a:custGeom>
            <a:solidFill>
              <a:srgbClr val="EDE8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203221" cy="956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393108" y="3029143"/>
            <a:ext cx="7555957" cy="650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6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 busca identificar patrones, inconsistencias, relaciones entre variables y posibles limitaciones de los datos relacionados con la cobertura móvil por tecnología en los municipios de Colombia.</a:t>
            </a:r>
          </a:p>
          <a:p>
            <a:pPr algn="l">
              <a:lnSpc>
                <a:spcPts val="4339"/>
              </a:lnSpc>
            </a:pPr>
            <a:r>
              <a:rPr lang="en-US" sz="3099" spc="68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Los datos analizados incluyen información de cobertura para las tecnologías 2G, 3G, HSPA, 4G/LTE y 5G, junto con variables territoriales organizadas a nivel municipal y departamental.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9430" y="726511"/>
            <a:ext cx="7685201" cy="2978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b="true" sz="5686" spc="53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ANÁLISIS EXPLORATORIO DE DATOS(EDA)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609049" y="3549462"/>
            <a:ext cx="10191119" cy="5708838"/>
          </a:xfrm>
          <a:custGeom>
            <a:avLst/>
            <a:gdLst/>
            <a:ahLst/>
            <a:cxnLst/>
            <a:rect r="r" b="b" t="t" l="l"/>
            <a:pathLst>
              <a:path h="5708838" w="10191119">
                <a:moveTo>
                  <a:pt x="0" y="0"/>
                </a:moveTo>
                <a:lnTo>
                  <a:pt x="10191119" y="0"/>
                </a:lnTo>
                <a:lnTo>
                  <a:pt x="10191119" y="5708838"/>
                </a:lnTo>
                <a:lnTo>
                  <a:pt x="0" y="57088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2864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562862"/>
            <a:ext cx="6090888" cy="391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2783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Contenido:</a:t>
            </a:r>
          </a:p>
          <a:p>
            <a:pPr algn="l" marL="600874" indent="-300437" lvl="1">
              <a:lnSpc>
                <a:spcPts val="3896"/>
              </a:lnSpc>
              <a:buFont typeface="Arial"/>
              <a:buChar char="•"/>
            </a:pPr>
            <a:r>
              <a:rPr lang="en-US" sz="2783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Revisión inicial de la base de datos de cobertura móvil</a:t>
            </a:r>
          </a:p>
          <a:p>
            <a:pPr algn="l" marL="600874" indent="-300437" lvl="1">
              <a:lnSpc>
                <a:spcPts val="3896"/>
              </a:lnSpc>
              <a:buFont typeface="Arial"/>
              <a:buChar char="•"/>
            </a:pPr>
            <a:r>
              <a:rPr lang="en-US" sz="2783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identifico las columnas relevantes (3g 4g lte 5g)</a:t>
            </a:r>
          </a:p>
          <a:p>
            <a:pPr algn="l" marL="600874" indent="-300437" lvl="1">
              <a:lnSpc>
                <a:spcPts val="3896"/>
              </a:lnSpc>
              <a:buFont typeface="Arial"/>
              <a:buChar char="•"/>
            </a:pPr>
            <a:r>
              <a:rPr lang="en-US" sz="2783" spc="6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limpieza de los datos como los valores nulos y errores y formatos inconsistentes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9430" y="726511"/>
            <a:ext cx="7685201" cy="197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b="true" sz="5686" spc="53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COBERTURA POR DEPARTAMENTO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169430" y="3551898"/>
            <a:ext cx="13629413" cy="593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4225" spc="9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inicio con un análisis de de comparaciones de tecnologías en cada municipios (3g, 4g lte 5g) y se valido que los municipios lideres en tecnologías son Cundinamarca Santander y Valle del cauca son los departamentos con mayor conectividad y tecnologías a nivel nacional por delante de los demás departamentos dándole un claro punto de interés para los proveedores</a:t>
            </a:r>
          </a:p>
          <a:p>
            <a:pPr algn="l">
              <a:lnSpc>
                <a:spcPts val="591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9430" y="726511"/>
            <a:ext cx="7685201" cy="197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b="true" sz="5686" spc="53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INDICADORES GENERALES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169430" y="3551898"/>
            <a:ext cx="13629413" cy="593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4225" spc="92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datos ya revisados el porcentaje de tecnologías de mayor cobertura a nivel nacional son el 3G siendo el mayor con cobertura a nivel nacional, después el 4G siendo el segundo con cobertura superior y el LTE superando en algunos departamentos y el 5G siendo el menor con despliegue a nivel nacional a diferencia de las otras tecnologías que almenos tiene un valor significativo a nivel nacional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7517"/>
            <a:ext cx="12058657" cy="197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b="true" sz="5686" spc="53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TOP 10 MUNICIPIOS CON MAYOR COBERTURA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237452" y="4517972"/>
            <a:ext cx="11301259" cy="5170326"/>
          </a:xfrm>
          <a:custGeom>
            <a:avLst/>
            <a:gdLst/>
            <a:ahLst/>
            <a:cxnLst/>
            <a:rect r="r" b="b" t="t" l="l"/>
            <a:pathLst>
              <a:path h="5170326" w="11301259">
                <a:moveTo>
                  <a:pt x="0" y="0"/>
                </a:moveTo>
                <a:lnTo>
                  <a:pt x="11301259" y="0"/>
                </a:lnTo>
                <a:lnTo>
                  <a:pt x="11301259" y="5170326"/>
                </a:lnTo>
                <a:lnTo>
                  <a:pt x="0" y="51703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4101" y="2701767"/>
            <a:ext cx="12487855" cy="71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un ranking de los municipios con la mayor cobertura a nivel nacional son: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Cundinamarca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Santander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Valle del cauca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Norte de Santander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Cesar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Magdalena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guajira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Bolivar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Nariño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Risaralda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7517"/>
            <a:ext cx="12058657" cy="197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b="true" sz="5686" spc="534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10 MUNICIPIOS CON MENOR COBERTURA 4G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814101" y="2701767"/>
            <a:ext cx="12487855" cy="714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 un ranking de los municipios con la menor cobertura a nivel nacional son: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Zipaquirá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Pereira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Palmira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Montería 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Pasto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Barbosa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Sabanalarga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Magangué</a:t>
            </a:r>
          </a:p>
          <a:p>
            <a:pPr algn="l" marL="733571" indent="-366786" lvl="1">
              <a:lnSpc>
                <a:spcPts val="4756"/>
              </a:lnSpc>
              <a:buAutoNum type="arabicPeriod" startAt="1"/>
            </a:pPr>
            <a:r>
              <a:rPr lang="en-US" sz="3397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Piedecuesta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136524" y="4642689"/>
            <a:ext cx="12402187" cy="5045609"/>
          </a:xfrm>
          <a:custGeom>
            <a:avLst/>
            <a:gdLst/>
            <a:ahLst/>
            <a:cxnLst/>
            <a:rect r="r" b="b" t="t" l="l"/>
            <a:pathLst>
              <a:path h="5045609" w="12402187">
                <a:moveTo>
                  <a:pt x="0" y="0"/>
                </a:moveTo>
                <a:lnTo>
                  <a:pt x="12402187" y="0"/>
                </a:lnTo>
                <a:lnTo>
                  <a:pt x="12402187" y="5045609"/>
                </a:lnTo>
                <a:lnTo>
                  <a:pt x="0" y="50456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33" t="0" r="-3433" b="-3101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7517"/>
            <a:ext cx="1205865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 DE DATOS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98659" y="1892967"/>
            <a:ext cx="14487477" cy="7795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tecnología 4G es la mas dominante a nivel nacional </a:t>
            </a:r>
          </a:p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tecnología 5G NO tiene un despliegue tan relevante en los datos </a:t>
            </a:r>
          </a:p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Cundinamarca, Santander y Valle del Cauca lideran en conectividad.</a:t>
            </a:r>
          </a:p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Existen brechas entre municipios con alta y baja cobertura.</a:t>
            </a:r>
          </a:p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análisis exploratorio permitió validar la calidad y consistencia de los datos antes de graficar.</a:t>
            </a:r>
          </a:p>
          <a:p>
            <a:pPr algn="l" marL="796886" indent="-398443" lvl="1">
              <a:lnSpc>
                <a:spcPts val="5167"/>
              </a:lnSpc>
              <a:buFont typeface="Arial"/>
              <a:buChar char="•"/>
            </a:pPr>
            <a:r>
              <a:rPr lang="en-US" sz="3690" spc="81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Estos datos sirven para saber que lugares de municipios que pueden tener tecnologías mas avanzadas como el 5G para y poder saber que municipios ya tienen que tener un avance a nivel tecnológico para mejorar esa cobertura.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399961">
            <a:off x="13031985" y="1946152"/>
            <a:ext cx="13805122" cy="17698875"/>
          </a:xfrm>
          <a:custGeom>
            <a:avLst/>
            <a:gdLst/>
            <a:ahLst/>
            <a:cxnLst/>
            <a:rect r="r" b="b" t="t" l="l"/>
            <a:pathLst>
              <a:path h="17698875" w="13805122">
                <a:moveTo>
                  <a:pt x="0" y="0"/>
                </a:moveTo>
                <a:lnTo>
                  <a:pt x="13805122" y="0"/>
                </a:lnTo>
                <a:lnTo>
                  <a:pt x="13805122" y="17698875"/>
                </a:lnTo>
                <a:lnTo>
                  <a:pt x="0" y="1769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572246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5" y="0"/>
                </a:lnTo>
                <a:lnTo>
                  <a:pt x="1966465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259300" y="8746182"/>
            <a:ext cx="1966466" cy="1884231"/>
          </a:xfrm>
          <a:custGeom>
            <a:avLst/>
            <a:gdLst/>
            <a:ahLst/>
            <a:cxnLst/>
            <a:rect r="r" b="b" t="t" l="l"/>
            <a:pathLst>
              <a:path h="1884231" w="1966466">
                <a:moveTo>
                  <a:pt x="0" y="0"/>
                </a:moveTo>
                <a:lnTo>
                  <a:pt x="1966466" y="0"/>
                </a:lnTo>
                <a:lnTo>
                  <a:pt x="1966466" y="1884231"/>
                </a:lnTo>
                <a:lnTo>
                  <a:pt x="0" y="1884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659918">
            <a:off x="-564686" y="-4116557"/>
            <a:ext cx="6556116" cy="6126988"/>
          </a:xfrm>
          <a:custGeom>
            <a:avLst/>
            <a:gdLst/>
            <a:ahLst/>
            <a:cxnLst/>
            <a:rect r="r" b="b" t="t" l="l"/>
            <a:pathLst>
              <a:path h="6126988" w="6556116">
                <a:moveTo>
                  <a:pt x="0" y="0"/>
                </a:moveTo>
                <a:lnTo>
                  <a:pt x="6556116" y="0"/>
                </a:lnTo>
                <a:lnTo>
                  <a:pt x="6556116" y="6126988"/>
                </a:lnTo>
                <a:lnTo>
                  <a:pt x="0" y="6126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3014354"/>
            <a:ext cx="11301259" cy="6243946"/>
          </a:xfrm>
          <a:custGeom>
            <a:avLst/>
            <a:gdLst/>
            <a:ahLst/>
            <a:cxnLst/>
            <a:rect r="r" b="b" t="t" l="l"/>
            <a:pathLst>
              <a:path h="6243946" w="11301259">
                <a:moveTo>
                  <a:pt x="0" y="0"/>
                </a:moveTo>
                <a:lnTo>
                  <a:pt x="11301258" y="0"/>
                </a:lnTo>
                <a:lnTo>
                  <a:pt x="11301258" y="6243946"/>
                </a:lnTo>
                <a:lnTo>
                  <a:pt x="0" y="62439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28712" y="1613178"/>
            <a:ext cx="4697069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DASHBOARD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ENFOQUE 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009402" y="0"/>
            <a:ext cx="8278598" cy="10287000"/>
          </a:xfrm>
          <a:custGeom>
            <a:avLst/>
            <a:gdLst/>
            <a:ahLst/>
            <a:cxnLst/>
            <a:rect r="r" b="b" t="t" l="l"/>
            <a:pathLst>
              <a:path h="10287000" w="8278598">
                <a:moveTo>
                  <a:pt x="0" y="0"/>
                </a:moveTo>
                <a:lnTo>
                  <a:pt x="8278598" y="0"/>
                </a:lnTo>
                <a:lnTo>
                  <a:pt x="8278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056" t="0" r="-36837" b="-103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7246" y="3863283"/>
            <a:ext cx="7646754" cy="476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 escogió usar un modelo de clasificación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predecir la presencia de cobertura 4G en los departamentos y municipios de Colombia. El modelo escogido fue Random Forest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ya que maneja muy bien las variables categóricas, funciona bien con data sets grandes como el nuestro que tiene mas de 400.000 registros, tiende a tener mayor precisión que los otros modelos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MODELADO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923925"/>
            <a:ext cx="6460548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METRICAS DEL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9431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311225" y="3076458"/>
            <a:ext cx="15453920" cy="598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Para evaluar el desem</a:t>
            </a: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peño de los modelos predictivos del proyecto</a:t>
            </a: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Las métricas utilizadas fueron:</a:t>
            </a:r>
          </a:p>
          <a:p>
            <a:pPr algn="l" marL="732869" indent="-366435" lvl="1">
              <a:lnSpc>
                <a:spcPts val="4752"/>
              </a:lnSpc>
              <a:buAutoNum type="arabicPeriod" startAt="1"/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Accuracy (proporción total de predicciones correctas)</a:t>
            </a:r>
          </a:p>
          <a:p>
            <a:pPr algn="l" marL="732869" indent="-366435" lvl="1">
              <a:lnSpc>
                <a:spcPts val="4752"/>
              </a:lnSpc>
              <a:buAutoNum type="arabicPeriod" startAt="1"/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Precisión (De todos los municipios donde el modelo predijo “S”, cuántos realmente tienen cobertura “S”.)</a:t>
            </a:r>
          </a:p>
          <a:p>
            <a:pPr algn="l" marL="732869" indent="-366435" lvl="1">
              <a:lnSpc>
                <a:spcPts val="4752"/>
              </a:lnSpc>
              <a:buAutoNum type="arabicPeriod" startAt="1"/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Recall (De todos los municipios que realmente tienen cobertura “S”, cuántos detectó el modelo.)</a:t>
            </a:r>
          </a:p>
          <a:p>
            <a:pPr algn="l" marL="732869" indent="-366435" lvl="1">
              <a:lnSpc>
                <a:spcPts val="4752"/>
              </a:lnSpc>
              <a:buAutoNum type="arabicPeriod" startAt="1"/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F1-Score(Promedio balanceado entre precisión y recall.)</a:t>
            </a:r>
          </a:p>
          <a:p>
            <a:pPr algn="l" marL="732869" indent="-366435" lvl="1">
              <a:lnSpc>
                <a:spcPts val="4752"/>
              </a:lnSpc>
              <a:buAutoNum type="arabicPeriod" startAt="1"/>
            </a:pPr>
            <a:r>
              <a:rPr lang="en-US" sz="3394" spc="7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Matriz de confusión(Cuántos aciertos en “S”, Cuántos aciertos en “N”)</a:t>
            </a:r>
          </a:p>
          <a:p>
            <a:pPr algn="l">
              <a:lnSpc>
                <a:spcPts val="475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1750826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MODELADO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97246" y="3863283"/>
            <a:ext cx="15163065" cy="423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Accuracy (Exactitud)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82%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clasifica co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rrectamente el 82% de los registros.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Esta métrica está influenciada por la alta proporción de registros sin cobertur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4G.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exactitud es aceptable, pero no suficiente como única métrica de evaluación.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97246" y="3863283"/>
            <a:ext cx="15163065" cy="529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Precision (Precisión)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Clase                                       Pr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ecisión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4G (N)                                  0.82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4G (S)                                        1.00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Cuando 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 modelo predice cob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ertura 4G, acierta casi siempre.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 embargo, realiza muy pocas predicciones positiv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as.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modelo es conservador y evita falsos positivos.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97246" y="3863283"/>
            <a:ext cx="15163065" cy="529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Recall (Sensibilidad)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Clase                        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ecall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4G (N)                   1.00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4G (S)                        0.00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Detecta correctamente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todos los casos sin cob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ertura 4G.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identifica la mayoría de los casos con cobertur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4G.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Principal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debilidad del modelo.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97246" y="3863283"/>
            <a:ext cx="15163065" cy="529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F1-Score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Clase                      F1-s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core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4G (N)                  0.90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4G (S)                       0.00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Excelente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desempeño en la clase mayo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ritaria.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Desempeñ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nulo en la clase minoritari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a.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está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desequilibrado hacia la clase “No 4G”.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19554" y="1671845"/>
            <a:ext cx="7039746" cy="5759792"/>
          </a:xfrm>
          <a:custGeom>
            <a:avLst/>
            <a:gdLst/>
            <a:ahLst/>
            <a:cxnLst/>
            <a:rect r="r" b="b" t="t" l="l"/>
            <a:pathLst>
              <a:path h="5759792" w="7039746">
                <a:moveTo>
                  <a:pt x="0" y="0"/>
                </a:moveTo>
                <a:lnTo>
                  <a:pt x="7039746" y="0"/>
                </a:lnTo>
                <a:lnTo>
                  <a:pt x="7039746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7246" y="3863283"/>
            <a:ext cx="15163065" cy="4764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Matriz de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Confusión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prin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cipales: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Verda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deros Negativos: 99,650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Falsos Nega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tivo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s: 22,528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Verdader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 Positivos: 7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Falsos Positiv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os: 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cla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sifica casi todos los casos como “No 4G”.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479914" y="731406"/>
            <a:ext cx="6779386" cy="5440457"/>
          </a:xfrm>
          <a:custGeom>
            <a:avLst/>
            <a:gdLst/>
            <a:ahLst/>
            <a:cxnLst/>
            <a:rect r="r" b="b" t="t" l="l"/>
            <a:pathLst>
              <a:path h="5440457" w="6779386">
                <a:moveTo>
                  <a:pt x="0" y="0"/>
                </a:moveTo>
                <a:lnTo>
                  <a:pt x="6779386" y="0"/>
                </a:lnTo>
                <a:lnTo>
                  <a:pt x="6779386" y="5440457"/>
                </a:lnTo>
                <a:lnTo>
                  <a:pt x="0" y="54404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97246" y="4598075"/>
            <a:ext cx="15163065" cy="423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Curva ROC y AU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o: AUC = 0.95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t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iene una excelente capacidad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discriminación entre clase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Aprende patr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ones relevantes en los dat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os.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nclusión: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problema no 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el modelo, sino el umbral de decisión.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1615133"/>
            <a:ext cx="6720787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562468" y="4016364"/>
            <a:ext cx="15163065" cy="370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Ejemplo de Predicc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ión Ind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iv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idual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Cobertu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 real                   Predicción             Probabil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dad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4G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                                            N                              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0.3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</a:t>
            </a:r>
          </a:p>
          <a:p>
            <a:pPr algn="l">
              <a:lnSpc>
                <a:spcPts val="4192"/>
              </a:lnSpc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Interpretación: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detecta señales de cobertura 4G.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supera el umbral de decisión (0.5), por lo que clasifica como negativa.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244203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2592173"/>
            <a:ext cx="10654986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CONCLUSIONES GENERALES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562468" y="4993404"/>
            <a:ext cx="15163065" cy="26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Buen desempeño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g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lob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Excelente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AUC (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0.95).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aja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detección de cobertura 4G.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significativo del desbalance de clases.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341907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E8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45925">
            <a:off x="3142738" y="-769394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8798399">
            <a:off x="8466276" y="-9590538"/>
            <a:ext cx="9798172" cy="13143890"/>
          </a:xfrm>
          <a:custGeom>
            <a:avLst/>
            <a:gdLst/>
            <a:ahLst/>
            <a:cxnLst/>
            <a:rect r="r" b="b" t="t" l="l"/>
            <a:pathLst>
              <a:path h="13143890" w="9798172">
                <a:moveTo>
                  <a:pt x="0" y="0"/>
                </a:moveTo>
                <a:lnTo>
                  <a:pt x="9798173" y="0"/>
                </a:lnTo>
                <a:lnTo>
                  <a:pt x="9798173" y="13143890"/>
                </a:lnTo>
                <a:lnTo>
                  <a:pt x="0" y="13143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3283157">
            <a:off x="-1501206" y="7329841"/>
            <a:ext cx="5624862" cy="7545546"/>
          </a:xfrm>
          <a:custGeom>
            <a:avLst/>
            <a:gdLst/>
            <a:ahLst/>
            <a:cxnLst/>
            <a:rect r="r" b="b" t="t" l="l"/>
            <a:pathLst>
              <a:path h="7545546" w="5624862">
                <a:moveTo>
                  <a:pt x="0" y="0"/>
                </a:moveTo>
                <a:lnTo>
                  <a:pt x="5624862" y="0"/>
                </a:lnTo>
                <a:lnTo>
                  <a:pt x="5624862" y="7545546"/>
                </a:lnTo>
                <a:lnTo>
                  <a:pt x="0" y="754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97246" y="2592173"/>
            <a:ext cx="10654986" cy="96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61"/>
              </a:lnSpc>
            </a:pPr>
            <a:r>
              <a:rPr lang="en-US" sz="5686" spc="534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RECOMENDACIONES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2770156">
            <a:off x="-2577184" y="-2165857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1"/>
                </a:lnTo>
                <a:lnTo>
                  <a:pt x="0" y="499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2770156">
            <a:off x="15710816" y="8522875"/>
            <a:ext cx="5154368" cy="4995052"/>
          </a:xfrm>
          <a:custGeom>
            <a:avLst/>
            <a:gdLst/>
            <a:ahLst/>
            <a:cxnLst/>
            <a:rect r="r" b="b" t="t" l="l"/>
            <a:pathLst>
              <a:path h="4995052" w="5154368">
                <a:moveTo>
                  <a:pt x="0" y="0"/>
                </a:moveTo>
                <a:lnTo>
                  <a:pt x="5154368" y="0"/>
                </a:lnTo>
                <a:lnTo>
                  <a:pt x="5154368" y="4995052"/>
                </a:lnTo>
                <a:lnTo>
                  <a:pt x="0" y="4995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562468" y="4993404"/>
            <a:ext cx="15163065" cy="26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Ajustar el umbral de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lasific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ación.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Evaluar métricas enfocadas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 la clase minoritaria.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</a:t>
            </a: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siderar técnicas de balanceo de clases.</a:t>
            </a:r>
          </a:p>
          <a:p>
            <a:pPr algn="l" marL="646512" indent="-323256" lvl="1">
              <a:lnSpc>
                <a:spcPts val="4192"/>
              </a:lnSpc>
              <a:buFont typeface="Arial"/>
              <a:buChar char="•"/>
            </a:pPr>
            <a:r>
              <a:rPr lang="en-US" sz="2994" spc="65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modelo es válido como base para mejora y despliegue futuro.</a:t>
            </a:r>
          </a:p>
          <a:p>
            <a:pPr algn="l">
              <a:lnSpc>
                <a:spcPts val="41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97246" y="3419074"/>
            <a:ext cx="8324690" cy="1259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58"/>
              </a:lnSpc>
            </a:pPr>
            <a:r>
              <a:rPr lang="en-US" b="true" sz="7327" spc="688">
                <a:solidFill>
                  <a:srgbClr val="15254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DEL MODELADO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37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0604" y="2961763"/>
            <a:ext cx="8328760" cy="41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3"/>
              </a:lnSpc>
            </a:pPr>
            <a:r>
              <a:rPr lang="en-US" b="true" sz="11902" spc="1118">
                <a:solidFill>
                  <a:srgbClr val="EDE8E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MUCHAS GRACIAS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1478627" y="3047813"/>
            <a:ext cx="0" cy="4247941"/>
          </a:xfrm>
          <a:prstGeom prst="line">
            <a:avLst/>
          </a:prstGeom>
          <a:ln cap="flat" w="66675">
            <a:solidFill>
              <a:srgbClr val="E3D8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8502801" y="331078"/>
            <a:ext cx="10116277" cy="9454121"/>
          </a:xfrm>
          <a:custGeom>
            <a:avLst/>
            <a:gdLst/>
            <a:ahLst/>
            <a:cxnLst/>
            <a:rect r="r" b="b" t="t" l="l"/>
            <a:pathLst>
              <a:path h="9454121" w="10116277">
                <a:moveTo>
                  <a:pt x="0" y="0"/>
                </a:moveTo>
                <a:lnTo>
                  <a:pt x="10116277" y="0"/>
                </a:lnTo>
                <a:lnTo>
                  <a:pt x="10116277" y="9454121"/>
                </a:lnTo>
                <a:lnTo>
                  <a:pt x="0" y="94541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DAG7hDLejlE</dc:identifier>
  <dcterms:modified xsi:type="dcterms:W3CDTF">2011-08-01T06:04:30Z</dcterms:modified>
  <cp:revision>1</cp:revision>
  <dc:title>Realizado por Anderson Ortiz, Cristian Rojas Y Kevin Bohórquez</dc:title>
</cp:coreProperties>
</file>